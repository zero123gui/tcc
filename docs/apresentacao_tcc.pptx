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0728655" cy="51206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UNIOESTE — UNIVERSIDADE ESTADUAL DO OESTE DO PARANÁ</a:t>
            </a:r>
            <a:br/>
            <a:r>
              <a:t>CENTRO DE ENGENHARIAS E CIÊNCIAS EXATAS | CIÊNCIA DA COMPUTAÇÃO</a:t>
            </a:r>
          </a:p>
          <a:p>
            <a:pPr algn="ctr">
              <a:spcBef>
                <a:spcPts val="2000"/>
              </a:spcBef>
              <a:defRPr sz="2500" b="1">
                <a:solidFill>
                  <a:srgbClr val="FFFFFF"/>
                </a:solidFill>
              </a:defRPr>
            </a:pPr>
            <a:r>
              <a:t>Desenvolvimento de uma Solução de Alta Disponibilidade: Uma Abordagem Prática</a:t>
            </a:r>
          </a:p>
          <a:p>
            <a:pPr algn="ctr">
              <a:spcBef>
                <a:spcPts val="1000"/>
              </a:spcBef>
              <a:defRPr sz="1500">
                <a:solidFill>
                  <a:srgbClr val="94A3B8"/>
                </a:solidFill>
              </a:defRPr>
            </a:pPr>
            <a:r>
              <a:t>Orquestração Autônoma de Failover com Algoritmo Raft e PostgreSQL em Ambientes SCADA</a:t>
            </a:r>
          </a:p>
          <a:p>
            <a:pPr algn="ctr">
              <a:spcBef>
                <a:spcPts val="2400"/>
              </a:spcBef>
              <a:defRPr sz="1400">
                <a:solidFill>
                  <a:srgbClr val="E2E8F0"/>
                </a:solidFill>
              </a:defRPr>
            </a:pPr>
            <a:r>
              <a:t>Acadêmico: Guilherme Kenzo Takano Miller</a:t>
            </a:r>
            <a:br/>
            <a:r>
              <a:t>Orientadora: Ma. Teresinha Arnauts Hachisuca  |  Coorientador: Me. Filipe Ventura Muggiati</a:t>
            </a:r>
          </a:p>
          <a:p>
            <a:pPr algn="ctr">
              <a:spcBef>
                <a:spcPts val="1400"/>
              </a:spcBef>
              <a:defRPr sz="1300" b="1">
                <a:solidFill>
                  <a:srgbClr val="0EA5E9"/>
                </a:solidFill>
              </a:defRPr>
            </a:pPr>
            <a:r>
              <a:t>Foz do Iguaçu —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Página 1 de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AGENDA DA APRESENTAÇÃO</a:t>
            </a:r>
          </a:p>
          <a:p>
            <a:pPr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Sumário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UNIOESTE — Guilherme K. T. Miller | Defesa de TCC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55080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Página 2 de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64992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109728" cy="1417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463040"/>
            <a:ext cx="30449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SEÇÃO 01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Contextualização e Motivação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A criticidade de sistemas SCADA e dependência de SGBDs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371600"/>
            <a:ext cx="3364992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371600"/>
            <a:ext cx="109728" cy="1417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463040"/>
            <a:ext cx="30449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SEÇÃO 02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Delimitação do Problema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Falhas de banco vs. camada de rede e o risco de Split-Brain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371600"/>
            <a:ext cx="3364992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371600"/>
            <a:ext cx="109728" cy="1417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463040"/>
            <a:ext cx="30449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SEÇÃO 03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Objetivos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Objetivo geral e metas específicas do projeto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90088"/>
            <a:ext cx="3364992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990088"/>
            <a:ext cx="109728" cy="1417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081528"/>
            <a:ext cx="30449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SEÇÃO 04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Fundamentação Teórica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Alta Disponibilidade, Consenso (Raft x Paxos) e gRPC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8" y="2990088"/>
            <a:ext cx="3364992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7408" y="2990088"/>
            <a:ext cx="109728" cy="1417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8576" y="3081528"/>
            <a:ext cx="30449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SEÇÃO 05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Arquitetura da Solução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Estrutura do raft-ha-manager e nó árbitro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2990088"/>
            <a:ext cx="3364992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83296" y="2990088"/>
            <a:ext cx="109728" cy="1417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3081528"/>
            <a:ext cx="30449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SEÇÃO 06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Dinâmica de Failover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Detecção JDBC, Step-Down voluntário, Fencing e Self-Healing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608576"/>
            <a:ext cx="3364992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608576"/>
            <a:ext cx="109728" cy="1417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700016"/>
            <a:ext cx="30449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SEÇÃO 07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Ambiente de Testes e Resultados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Validação prática: Cenário de Falha e Cenário de Partição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07408" y="4608576"/>
            <a:ext cx="3364992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07408" y="4608576"/>
            <a:ext cx="109728" cy="1417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08576" y="4700016"/>
            <a:ext cx="30449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SEÇÃO 08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Limitações e Trabalhos Futuros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Modelo CFT, ausência de Pre-Vote e próximos passos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83296" y="4608576"/>
            <a:ext cx="3364992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83296" y="4608576"/>
            <a:ext cx="109728" cy="1417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4464" y="4700016"/>
            <a:ext cx="30449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SEÇÃO 09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Conclusões &amp; Referências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Síntese dos resultados e bibliografia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1. CONTEXTUALIZAÇÃO &amp; MOTIVAÇÃO</a:t>
            </a:r>
          </a:p>
          <a:p>
            <a:pPr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Sistemas SCADA &amp; A Exigência de Disponibilidade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UNIOESTE — Guilherme K. T. Miller | Defesa de TCC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55080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Página 3 de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393338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AMBIENTE INDUSTRIAL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Infraestruturas Críticas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Monitoramento e controle de processos físicos vitais: energia elétrica, saneamento e automação fabril.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Interação direta com sensores, PLCs e atuadores em tempo real.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Qualquer interrupção operacional pode causar acidentes, contaminações ou prejuízos severos.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9178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99178" y="1371600"/>
            <a:ext cx="3393338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6338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POSTGRESQL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Papel Central dos SGBDs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2058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Armazenamento de variáveis de processo históricas, alarmes operacionais e configurações de telemetria.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Exigência de integridade transacional ACID estrita e retenção confiável dos dados.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Indisponibilidade do banco = cegueira operacional do sistema SCADA.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6836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66836" y="1371600"/>
            <a:ext cx="3393338" cy="7315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3996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DOWNTIME ZERO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Custo da Indisponibilidade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Intervenções manuais para diagnóstico e replicação levam de dezenas de minutos a horas.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Necessidade mandatória de mecanismos autônomos de tolerância a falhas e recuperação em segundos.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2. DELIMITAÇÃO DO PROBLEMA</a:t>
            </a:r>
          </a:p>
          <a:p>
            <a:pPr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O Descompasso entre Rede e Banco de Dados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UNIOESTE — Guilherme K. T. Miller | Defesa de TCC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55080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Página 4 de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393338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HEARTBEAT CEGO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Isolamento de Camadas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O processo do PostgreSQL pode sofrer parada abrupta ou falha de disco local.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A pilha de rede (gRPC) continua ativa, emitindo heartbeats normalmente para os pares.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No Raft clássico, o líder retém o cargo enquanto tiver rede, paralisando escritas do SCADA.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9178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99178" y="1371600"/>
            <a:ext cx="3393338" cy="7315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6338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CORRUPÇÃO DE DADOS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Risco Crítico de Split-Brain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2058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Particionamento de rede isola o líder antigo da maioria dos nós.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A maioria elege um novo líder legítimo; o líder antigo crê continuar no poder (Delusional Leader).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Sem isolamento forçado, ambos aceitariam escritas, gerando corrupção irreversível.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6836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66836" y="1371600"/>
            <a:ext cx="3393338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3996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ACOPLAMENTO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Limitação de Ferramentas Genéricas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Soluções prontas (Patroni, repmgr) dependem de DCS externo complexo ou scripts externos.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Exigência de uma orquestração unificada, síncrona e nativa com o ciclo de vida do PostgreSQL.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3. OBJETIVOS DO TRABALHO</a:t>
            </a:r>
          </a:p>
          <a:p>
            <a:pPr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Objetivos Geral e Específicos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UNIOESTE — Guilherme K. T. Miller | Defesa de TCC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55080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Página 5 de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4475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META PRINCIPAL</a:t>
            </a:r>
          </a:p>
          <a:p>
            <a:pPr>
              <a:spcBef>
                <a:spcPts val="100"/>
              </a:spcBef>
              <a:defRPr sz="1400" b="1">
                <a:solidFill>
                  <a:srgbClr val="FFFFFF"/>
                </a:solidFill>
              </a:defRPr>
            </a:pPr>
            <a:r>
              <a:t>Objetivo Geral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40280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 Desenvolver e validar uma arquitetura autônoma de gerenciamento de failover para o banco de dados PostgreSQL em ambientes supervisores SCADA.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Empregar o algoritmo de consenso Raft para garantir a consistência e a alta disponibilidade dos dados industriais com intervenção humana zero.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1371600"/>
            <a:ext cx="52120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8095" y="1371600"/>
            <a:ext cx="521208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44475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ETAPAS DE CONCRETIZAÇÃO</a:t>
            </a:r>
          </a:p>
          <a:p>
            <a:pPr>
              <a:spcBef>
                <a:spcPts val="100"/>
              </a:spcBef>
              <a:defRPr sz="1400" b="1">
                <a:solidFill>
                  <a:srgbClr val="FFFFFF"/>
                </a:solidFill>
              </a:defRPr>
            </a:pPr>
            <a:r>
              <a:t>Objetivos Específicos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240280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 1. Motor Raft Nativo: Desenvolver em Java com comunicação gRPC / Protocol Buffers de baixo nível.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2. Monitor de Saúde Local: Implementar o PostgresHealthChecker via JDBC com filtro contra falsos positivos.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3. Fencing e Self-Healing: Automatizar isolamento forçado e resincronização via pg_basebackup.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4. Avaliação Experimental: Validar em ambiente virtualizado, quantificando tempos de eleição e MTTR.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4. FUNDAMENTAÇÃO TEÓRICA</a:t>
            </a:r>
          </a:p>
          <a:p>
            <a:pPr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Pilares e Métricas de Alta Disponibilidade (HA)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UNIOESTE — Guilherme K. T. Miller | Defesa de TCC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55080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Página 6 de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393338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CONFIABILIDADE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Métricas de Disponibilidade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MTBF (Mean Time Between Failures): Tempo médio entre falhas consecutivas.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MTTF (Mean Time to Failure): Tempo de atividade operacional (uptime).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MTTR (Mean Time to Repair): Tempo esperado para restaurar o sistema à normalidade.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9178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99178" y="1371600"/>
            <a:ext cx="3393338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6338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99,999%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Regra dos 'Cinco Noves'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2058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99,0% = 3,65 dias de downtime/ano.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99,9% = 8,76 horas de downtime/ano.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99,999% = Máximo de 5,26 minutos de downtime por ano!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Meta de sistemas industriais de missão crítica.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6836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66836" y="1371600"/>
            <a:ext cx="3393338" cy="7315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3996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ARQUITETURA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Pilares de HA (Rajesh &amp; Kumar)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Tolerância a Falhas: Manutenção da operação perante quedas de componentes.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Redundância: Eliminação de pontos únicos de falha (SPOF).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Failover Automático: Migração de carga transparente para o backup.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Replicação e Consistência: Manter réplicas sincronizadas sem divergência.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4. FUNDAMENTAÇÃO TEÓRICA</a:t>
            </a:r>
          </a:p>
          <a:p>
            <a:pPr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Consenso Distribuído: Raft vs. Paxos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UNIOESTE — Guilherme K. T. Miller | Defesa de TCC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55080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Página 7 de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4475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CLÁSSICO</a:t>
            </a:r>
          </a:p>
          <a:p>
            <a:pPr>
              <a:spcBef>
                <a:spcPts val="100"/>
              </a:spcBef>
              <a:defRPr sz="1400" b="1">
                <a:solidFill>
                  <a:srgbClr val="FFFFFF"/>
                </a:solidFill>
              </a:defRPr>
            </a:pPr>
            <a:r>
              <a:t>Algoritmo Paxos (Lamport, 2001)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40280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 Abordagem simétrica peer-to-peer (Proposers, Acceptors, Learners).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Líder é apenas uma otimização de progresso (liveness).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Reconhecidamente complexo de entender e implementar na prática.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Alto tráfego de mensagens pode gerar gargalos com o crescimento dos nós.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1371600"/>
            <a:ext cx="52120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8095" y="1371600"/>
            <a:ext cx="521208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44475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ADOTADO NO PROJETO</a:t>
            </a:r>
          </a:p>
          <a:p>
            <a:pPr>
              <a:spcBef>
                <a:spcPts val="100"/>
              </a:spcBef>
              <a:defRPr sz="1400" b="1">
                <a:solidFill>
                  <a:srgbClr val="FFFFFF"/>
                </a:solidFill>
              </a:defRPr>
            </a:pPr>
            <a:r>
              <a:t>Algoritmo Raft (Ongaro &amp; Ousterhout, 2014)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240280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 Estrutura centrada no Líder: fluxo estritamente unidirecional.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Decomposição clara em 3 subproblemas independentes: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      • Eleição de Líder (Leader Election via timeouts aleatórios)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      • Replicação de Log (Log Replication via AppendEntries)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      • Segurança (Safety: líder sempre contém o histórico completo)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Compreensibilidade superior mantendo o mesmo rigor de segurança.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4. FUNDAMENTAÇÃO TEÓRICA</a:t>
            </a:r>
          </a:p>
          <a:p>
            <a:pPr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Comunicação em Duas Camadas &amp; Tecnologias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UNIOESTE — Guilherme K. T. Miller | Defesa de TCC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55080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Página 8 de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393338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CHÃO DE FÁBRICA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Camada de Automação (SCADA)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Protocolo OPC-UA como padrão industrial de integração vertical.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Transporta metadados semânticos ricos e segurança integrada.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Sobrecarga de banda inadequada para coordenação de consenso entre servidores.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9178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99178" y="1371600"/>
            <a:ext cx="3393338" cy="7315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6338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GRPC + PROTOBUF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Camada de Orquestração 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2058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Comunicação entre os nós do cluster via gRPC sobre HTTP/2.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Serialização binária compacta (Protocol Buffers) para latência ultrabaixa.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Ideal para o tráfego ininterrupto de heartbeats e mensagens de eleição.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6836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66836" y="1371600"/>
            <a:ext cx="3393338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3996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JSON LINES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Persistência &amp; Snapshots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Log do Raft persistido em JSON Lines (.jsonl) para inserções append-only rápidas e auditáveis.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Compactação de logs (Snapshotting) para evitar esgotamento de disco a longo prazo.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5. METODOLOGIA &amp; ARQUITETURA PROPOSTA</a:t>
            </a:r>
          </a:p>
          <a:p>
            <a:pPr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Visão Geral do raft-ha-manager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UNIOESTE — Guilherme K. T. Miller | Defesa de TCC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55080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Página 9 de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4475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COMPONENTES CORE</a:t>
            </a:r>
          </a:p>
          <a:p>
            <a:pPr>
              <a:spcBef>
                <a:spcPts val="100"/>
              </a:spcBef>
              <a:defRPr sz="1400" b="1">
                <a:solidFill>
                  <a:srgbClr val="FFFFFF"/>
                </a:solidFill>
              </a:defRPr>
            </a:pPr>
            <a:r>
              <a:t>Módulos do Agente (Java 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40280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 RaftNode: Máquina de estados finita (Follower, Candidate, Leader).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PostgresHealthChecker: Thread dedicada de verificação JDBC local a cada 3s.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FailoverExecutor: Executor de rotinas de promoção (pg_promote) e recuperação.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gRPC Server &amp; Client: Troca de mensagens RequestVote e AppendEntries.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1371600"/>
            <a:ext cx="52120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8095" y="1371600"/>
            <a:ext cx="521208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44475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STREAMING REPLICATION</a:t>
            </a:r>
          </a:p>
          <a:p>
            <a:pPr>
              <a:spcBef>
                <a:spcPts val="100"/>
              </a:spcBef>
              <a:defRPr sz="1400" b="1">
                <a:solidFill>
                  <a:srgbClr val="FFFFFF"/>
                </a:solidFill>
              </a:defRPr>
            </a:pPr>
            <a:r>
              <a:t>Integração com PostgreSQL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240280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 Replicação física contínua via WAL (Write-Ahead Logging).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Líder atua como PRIMARY; seguidores atuam como STANDBY réplicas.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Acoplamento direto: eventos de saúde do banco alteram o estado do Raft de forma síncrona.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5. METODOLOGIA &amp; ARQUITETURA PROPOSTA</a:t>
            </a:r>
          </a:p>
          <a:p>
            <a:pPr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Topologia Industrial &amp; O Papel do Nó Árbitro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UNIOESTE — Guilherme K. T. Miller | Defesa de TCC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55080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Página 10 de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393338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4 SERVIDORES FÍSICOS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Infraestrutura Real (2 Sites)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Site A: 2 nós de dados | Site B: 2 nós de dados.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Problema: Em partição 2x2, nenhum lado atinge maioria absoluta (quórum $\ge 3$). O cluster travaria.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9178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99178" y="1371600"/>
            <a:ext cx="3393338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6338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QUÓRUM ÍMPAR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Solução: Nó Árbitro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2058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Nó leve participante apenas do consenso Raft (sem rodar instância de PostgreSQL).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Eleva o total de votantes para 5 participantes, garantindo quórum de 3 mesmo em partição entre sites.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6836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66836" y="1371600"/>
            <a:ext cx="3393338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3996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AMBIENTE CONTROLADO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Topologia de Simulação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3 nós no total: 2 nós de dados com PostgreSQL (Node-1 e Node-2) + 1 Nó Árbitro (Node-3).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Espelha perfeitamente a regra de quórum ímpar do algoritmo Raft.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5. METODOLOGIA &amp; ARQUITETURA PROPOSTA</a:t>
            </a:r>
          </a:p>
          <a:p>
            <a:pPr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Dupla Camada de Detecção de Falhas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UNIOESTE — Guilherme K. T. Miller | Defesa de TCC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55080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Página 11 de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4475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POSTGRESHEALTHCHECKER</a:t>
            </a:r>
          </a:p>
          <a:p>
            <a:pPr>
              <a:spcBef>
                <a:spcPts val="100"/>
              </a:spcBef>
              <a:defRPr sz="1400" b="1">
                <a:solidFill>
                  <a:srgbClr val="FFFFFF"/>
                </a:solidFill>
              </a:defRPr>
            </a:pPr>
            <a:r>
              <a:t>1. Monitoramento Local (JDBC)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40280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 Consulta periódica local: SELECT pg_is_in_recovery() a cada 3 segundos.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Classificação de estado: PRIMARY, STANDBY ou UNHEALTHY.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Filtro Anti-Falso Positivo: Exige 2 falhas consecutivas (total de 6s) antes de confirmar a queda do banco local.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1371600"/>
            <a:ext cx="52120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8095" y="1371600"/>
            <a:ext cx="521208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44475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HEARTBEATS DO RAFT</a:t>
            </a:r>
          </a:p>
          <a:p>
            <a:pPr>
              <a:spcBef>
                <a:spcPts val="100"/>
              </a:spcBef>
              <a:defRPr sz="1400" b="1">
                <a:solidFill>
                  <a:srgbClr val="FFFFFF"/>
                </a:solidFill>
              </a:defRPr>
            </a:pPr>
            <a:r>
              <a:t>2. Monitoramento do Cluster (gRPC)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240280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 Líder envia AppendEntries a cada 5 segundos para todos os seguidores.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Election Timeout: Temporizador aleatório entre 15 e 30 segundos nos seguidores.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Se o seguidor não recebe heartbeat dentro do timeout $_x000D_ightarrow$ transita para CANDIDATE e convoca eleição.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6. DINÂMICA DE FAILOVER</a:t>
            </a:r>
          </a:p>
          <a:p>
            <a:pPr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Failover por Falha no Banco: Step-Down Voluntário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UNIOESTE — Guilherme K. T. Miller | Defesa de TCC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55080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Página 12 de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393338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RENÚNCIA IMEDIATA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1. Detecção &amp; Step-Down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PostgresHealthChecker detecta falha local no Líder.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Líder executa becomeFollower() e cessa o envio de heartbeats.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Evita que um nó com banco quebrado continue retendo a liderança.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9178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99178" y="1371600"/>
            <a:ext cx="3393338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6338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QUÓRUM RAFT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2. Eleição do Novo Líder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2058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Election timeout expira em um seguidor saudável.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Seguidor incrementa o term, vira CANDIDATE e envia RequestVote via gRPC.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Ao atingir maioria de votos ($\ge 2/3$), executa becomeLeader().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6836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66836" y="1371600"/>
            <a:ext cx="3393338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3996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PG_PROMOTE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3. Promoção do Banco Local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Novo líder invoca a função pg_promote() no PostgreSQL.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Banco local transita de STANDBY para PRIMARY e assume as escritas.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Tempo total de indisponibilidade (MTTR) medido em segundos.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6. DINÂMICA DE FAILOVER</a:t>
            </a:r>
          </a:p>
          <a:p>
            <a:pPr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Prevenção de Split-Brain: Fencing &amp; Self-Healing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UNIOESTE — Guilherme K. T. Miller | Defesa de TCC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55080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Página 13 de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4475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PRINCÍPIO FAIL-SAFE</a:t>
            </a:r>
          </a:p>
          <a:p>
            <a:pPr>
              <a:spcBef>
                <a:spcPts val="100"/>
              </a:spcBef>
              <a:defRPr sz="1400" b="1">
                <a:solidFill>
                  <a:srgbClr val="FFFFFF"/>
                </a:solidFill>
              </a:defRPr>
            </a:pPr>
            <a:r>
              <a:t>Fencing (Isolamento Forçado)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40280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 Cenário: Líder antigo isolado da rede volta a ter conectividade (Delusional Leader).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Condição de Gatilho: RaftNode = FOLLOWER, mas PostgreSQL local = PRIMARY.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Ação: O agente executa sudo systemctl stop postgresql imediatamente no SO.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Garante que nenhuma aplicação envie escritas para o servidor defasado.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1371600"/>
            <a:ext cx="52120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8095" y="1371600"/>
            <a:ext cx="521208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44475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PG_BASEBACKUP</a:t>
            </a:r>
          </a:p>
          <a:p>
            <a:pPr>
              <a:spcBef>
                <a:spcPts val="100"/>
              </a:spcBef>
              <a:defRPr sz="1400" b="1">
                <a:solidFill>
                  <a:srgbClr val="FFFFFF"/>
                </a:solidFill>
              </a:defRPr>
            </a:pPr>
            <a:r>
              <a:t>Self-Healing (Auto-Recuperação)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240280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 Após o fencing, o agente descarta o diretório de dados corrompido/antigo.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Executa pg_basebackup clonando a base inteira do novo líder legítimo.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Reinicia o serviço como uma réplica STANDBY segura conectada ao streaming.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Processo totalmente automatizado, sem intervenção humana.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7. METODOLOGIA &amp; AMBIENTE DE TESTES</a:t>
            </a:r>
          </a:p>
          <a:p>
            <a:pPr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Ambiente de Simulação e Automação de Deploy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UNIOESTE — Guilherme K. T. Miller | Defesa de TCC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55080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Página 14 de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393338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VIRTUALBOX HOST-ONLY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Infraestrutura Virtual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3 VMs isoladas com Ubuntu Linux, PostgreSQL 16 e JVM 21.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Criação e provisionamento automatizados via PowerShell (vm-create.ps1).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Comunicação em rede fechada simulando enlace industrial dedicado.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9178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99178" y="1371600"/>
            <a:ext cx="3393338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6338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SHELL SCRIPTS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Pipeline de Deploy Automatizado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2058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01-base.sh: IPs estáticos, firewall, /etc/hosts, Java e usuários.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02-postgres-primary.sh: Configurações de WAL, pg_hba.conf e replicação.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03-postgres-standby.sh: Clone inicial via pg_basebackup e streaming.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04-deploy-raft.sh: Deploy do JAR, arquivos YAML e serviço systemd.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6836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66836" y="1371600"/>
            <a:ext cx="3393338" cy="7315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3996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JUSTIFICATIVA TÉCNICA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Ajuste Conservador dos Tempos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Raft teórico: Heartbeats de 10-50ms / Timeouts de 150-300ms.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Simulação: Heartbeat de 5s / Timeouts de 15-30s para evitar falsas expirações por pausa de Garbage Collection na JVM e CPU compartilhada.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8. RESULTADOS EXPERIMENTAIS</a:t>
            </a:r>
          </a:p>
          <a:p>
            <a:pPr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Cenário 1: Falha no Banco de Dados (Crash)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UNIOESTE — Guilherme K. T. Miller | Defesa de TCC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55080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Página 15 de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Simulação de parada abrupta do processo PostgreSQL no nó líder (3 rodadas consecutivas).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73736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Rodada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Tempo de Detecção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Tempo de Eleição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MTTR Total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Recuperação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6,0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16,0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24,0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~ 8,0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6,0 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21,0 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29,0 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~ 8,0 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6,0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16,0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24,0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~ 8,0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3A8A"/>
                          </a:solidFill>
                        </a:defRPr>
                      </a:pPr>
                      <a:r>
                        <a:t>MÉDIA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3A8A"/>
                          </a:solidFill>
                        </a:defRPr>
                      </a:pPr>
                      <a:r>
                        <a:t>6,0 s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3A8A"/>
                          </a:solidFill>
                        </a:defRPr>
                      </a:pPr>
                      <a:r>
                        <a:t>17,6 s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3A8A"/>
                          </a:solidFill>
                        </a:defRPr>
                      </a:pPr>
                      <a:r>
                        <a:t>25,6 s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3A8A"/>
                          </a:solidFill>
                        </a:defRPr>
                      </a:pPr>
                      <a:r>
                        <a:t>~ 8,0 s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3977639"/>
            <a:ext cx="10728655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87367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ANÁLISE E DESTAQUES DOS RESULTADOS: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16551"/>
            <a:ext cx="103628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✔  Detecção determinística em 6s (2 checagens de 3s pelo PostgresHealthChecker).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✔  MTTR = T_detecção (6s) + T_eleição (17.6s) + T_promoção (~2s) = 25.6s de indisponibilidade.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✔  Recuperação em background (~8s) restaura a redundância sem bloquear os clientes SCADA.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8. RESULTADOS EXPERIMENTAIS</a:t>
            </a:r>
          </a:p>
          <a:p>
            <a:pPr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Cenário 2: Particionamento de Rede (Split-Brain)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UNIOESTE — Guilherme K. T. Miller | Defesa de TCC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55080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Página 16 de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Bloqueio de tráfego TCP gRPC isolando o nó líder, seguido de restabelecimento da conectividade.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73736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Rodada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Tempo de Eleição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MTTR Total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Self-Healing (Reconexão)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~ 20,0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~ 22,0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8,0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~ 20,0 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~ 22,0 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8,0 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~ 15,0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~ 17,0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8,0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3A8A"/>
                          </a:solidFill>
                        </a:defRPr>
                      </a:pPr>
                      <a:r>
                        <a:t>MÉDIA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3A8A"/>
                          </a:solidFill>
                        </a:defRPr>
                      </a:pPr>
                      <a:r>
                        <a:t>~ 18,3 s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3A8A"/>
                          </a:solidFill>
                        </a:defRPr>
                      </a:pPr>
                      <a:r>
                        <a:t>~ 20,3 s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3A8A"/>
                          </a:solidFill>
                        </a:defRPr>
                      </a:pPr>
                      <a:r>
                        <a:t>8,0 s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3977639"/>
            <a:ext cx="10728655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87367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ANÁLISE E DESTAQUES DOS RESULTADOS: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16551"/>
            <a:ext cx="103628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✔  A partição saudável elege um novo líder legítimo em média após 18,3s.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✔  MTTR médio de 20,3s para restauração plena do serviço de banco de dados.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✔  Self-Healing cravado em 8,0s na reconexão: Fencing matou o primário defasado e clonou o novo líder com zero corrupção de dados.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9. LIMITAÇÕES &amp; ANÁLISE CRÍTICA</a:t>
            </a:r>
          </a:p>
          <a:p>
            <a:pPr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Limitações Identificadas na Arquitetura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UNIOESTE — Guilherme K. T. Miller | Defesa de TCC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55080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Página 17 de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393338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PREMISSA DO RAFT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Modelo CFT (Crash Fault Tolerant)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Tolera quedas, atrasos e partições, mas pressupõe informações íntegras dos nós.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Não é imune a falhas bizantinas (nós corrompidos, votos forjados ou ataques cibernéticos em rede SCADA).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9178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99178" y="1371600"/>
            <a:ext cx="3393338" cy="7315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6338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INSTABILIDADE TRANSIENTE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Problema de Reconexão (Sem Pre-Vote)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2058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Líder isolado incrementa continuamente seu mandato (term) sem saber do cluster.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Ao reconectar, o term inflacionado força o líder legítimo a abdicar temporariamente.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Comportamento esperado da especificação básica do Raft sem a extensão Pre-Vote.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6836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66836" y="1371600"/>
            <a:ext cx="3393338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3996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PAGE CACHE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Persistência em JVM vs. Disco Físico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Gravação de logs em .jsonl depende do cache de página do SO.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Quedas abruptas de energia exigem chamadas diretas de fsync para garantir durabilidade estrita.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10. TRABALHOS FUTUROS</a:t>
            </a:r>
          </a:p>
          <a:p>
            <a:pPr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Propostas de Evolução do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UNIOESTE — Guilherme K. T. Miller | Defesa de TCC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55080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Página 18 de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393338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PRIORIDADE ALTA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1. Mecanismo Pre-Vote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Exigir checagem de conectividade com a maioria antes de permitir o incremento de mandato (term).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Elimina a oscilação de liderança na reconexão de nós isolados.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9178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99178" y="1371600"/>
            <a:ext cx="3393338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6338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SEGURANÇA SCADA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2. Tolerância a Falhas Bizantinas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2058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Incorporar assinaturas criptográficas e protocolos baseados em PBFT (Castro &amp; Liskov).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Blindagem contra nós comprometidos ou pacotes maliciosos na rede industrial.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6836" y="1371600"/>
            <a:ext cx="3393338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66836" y="1371600"/>
            <a:ext cx="3393338" cy="7315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3996" y="1444752"/>
            <a:ext cx="31190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DURABILIDADE &amp; EFICIÊNCIA</a:t>
            </a:r>
          </a:p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</a:defRPr>
            </a:pPr>
            <a:r>
              <a:t>3. fsync &amp; Replicação de WAL no Raft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2240280"/>
            <a:ext cx="30275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•  Chamadas nativas de fsync no SO para durabilidade imediata em disco.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 Transportar os arquivos WAL do PostgreSQL diretamente pelos canais gRPC do Raft, unificando consenso e dados.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11. CONCLUSÕES</a:t>
            </a:r>
          </a:p>
          <a:p>
            <a:pPr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Considerações Finais &amp; Contribuições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UNIOESTE — Guilherme K. T. Miller | Defesa de TCC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55080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Página 19 de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731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4475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SUCESSO</a:t>
            </a:r>
          </a:p>
          <a:p>
            <a:pPr>
              <a:spcBef>
                <a:spcPts val="100"/>
              </a:spcBef>
              <a:defRPr sz="1400" b="1">
                <a:solidFill>
                  <a:srgbClr val="FFFFFF"/>
                </a:solidFill>
              </a:defRPr>
            </a:pPr>
            <a:r>
              <a:t>Objetivos Alcançados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40280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 Desenvolvimento autônomo e bem-sucedido do orquestrador raft-ha-manager nativo em Java.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Acoplamento preciso entre o ciclo de vida do PostgreSQL e as transições de estado do Raft.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Mitigação total de Split-Brain através da orquestração sincronizada de Fencing e Self-Healing.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Eliminação de dependência de intervenção humana em ambientes SCADA de alta criticidade.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1371600"/>
            <a:ext cx="52120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8095" y="1371600"/>
            <a:ext cx="521208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44475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RESULTADOS CHAVE</a:t>
            </a:r>
          </a:p>
          <a:p>
            <a:pPr>
              <a:spcBef>
                <a:spcPts val="100"/>
              </a:spcBef>
              <a:defRPr sz="1400" b="1">
                <a:solidFill>
                  <a:srgbClr val="FFFFFF"/>
                </a:solidFill>
              </a:defRPr>
            </a:pPr>
            <a:r>
              <a:t>Impacto Prático &amp; Desempenho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240280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 Redução do MTTR: De dezenas de minutos/horas (procedimento manual) para ~25 segundos na simulação.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Em hardware de produção dedicado (intervalos de milissegundos), o MTTR alcançará frações de segundo.</a:t>
            </a:r>
          </a:p>
          <a:p>
            <a:pPr>
              <a:spcBef>
                <a:spcPts val="1100"/>
              </a:spcBef>
              <a:defRPr sz="1200">
                <a:solidFill>
                  <a:srgbClr val="0F172A"/>
                </a:solidFill>
              </a:defRPr>
            </a:pPr>
            <a:r>
              <a:t>•  Comprovação prática das garantias de consistência e disponibilidade do algoritmo Raft.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REFERÊNCIAS BIBLIOGRÁFICAS</a:t>
            </a:r>
          </a:p>
          <a:p>
            <a:pPr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Referências (1 /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UNIOESTE — Guilherme K. T. Miller | Defesa de TCC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55080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Página 20 de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10728655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08760"/>
            <a:ext cx="10180015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[1]  ALANAZI, M.; MAHMOOD, A.; CHOWDHURY, M. J. M. SCADA vulnerabilities and attacks: A review of the state-of-the-art and open issues. Computers and Security, v. 125, p. 103028, 2023.</a:t>
            </a:r>
          </a:p>
          <a:p>
            <a:pPr>
              <a:spcBef>
                <a:spcPts val="900"/>
              </a:spcBef>
              <a:defRPr sz="1050">
                <a:solidFill>
                  <a:srgbClr val="0F172A"/>
                </a:solidFill>
              </a:defRPr>
            </a:pPr>
            <a:r>
              <a:t>[2]  BHARDWAJ, R.; DATTA, D. Consensus Algorithm. In: Springer International Publishing, 2020. ISBN 978-3-030-38677-1.</a:t>
            </a:r>
          </a:p>
          <a:p>
            <a:pPr>
              <a:spcBef>
                <a:spcPts val="900"/>
              </a:spcBef>
              <a:defRPr sz="1050">
                <a:solidFill>
                  <a:srgbClr val="0F172A"/>
                </a:solidFill>
              </a:defRPr>
            </a:pPr>
            <a:r>
              <a:t>[3]  GRAY, J.; SIEWIOREK, D. P. High-availability computer systems. Computer, v. 24, n. 9, p. 39-48, 1991.</a:t>
            </a:r>
          </a:p>
          <a:p>
            <a:pPr>
              <a:spcBef>
                <a:spcPts val="900"/>
              </a:spcBef>
              <a:defRPr sz="1050">
                <a:solidFill>
                  <a:srgbClr val="0F172A"/>
                </a:solidFill>
              </a:defRPr>
            </a:pPr>
            <a:r>
              <a:t>[4]  KLEPPMANN, M. Designing Data-Intensive Applications: The Big Ideas Behind Reliable, Scalable, and Maintainable Systems. O'Reilly Media, Inc., 2017.</a:t>
            </a:r>
          </a:p>
          <a:p>
            <a:pPr>
              <a:spcBef>
                <a:spcPts val="900"/>
              </a:spcBef>
              <a:defRPr sz="1050">
                <a:solidFill>
                  <a:srgbClr val="0F172A"/>
                </a:solidFill>
              </a:defRPr>
            </a:pPr>
            <a:r>
              <a:t>[5]  LAMPORT, L. Paxos made simple. ACM SIGACT News (Distributed Computing Column), v. 32, n. 4, p. 51-58, 2001.</a:t>
            </a:r>
          </a:p>
          <a:p>
            <a:pPr>
              <a:spcBef>
                <a:spcPts val="900"/>
              </a:spcBef>
              <a:defRPr sz="1050">
                <a:solidFill>
                  <a:srgbClr val="0F172A"/>
                </a:solidFill>
              </a:defRPr>
            </a:pPr>
            <a:r>
              <a:t>[6]  LAMPORT, L.; SHOSTAK, R.; PEASE, M. The Byzantine Generals Problem. ACM Transactions on Programming Languages and Systems, v. 4, n. 3, p. 382-401, 1982.</a:t>
            </a:r>
          </a:p>
          <a:p>
            <a:pPr>
              <a:spcBef>
                <a:spcPts val="900"/>
              </a:spcBef>
              <a:defRPr sz="1050">
                <a:solidFill>
                  <a:srgbClr val="0F172A"/>
                </a:solidFill>
              </a:defRPr>
            </a:pPr>
            <a:r>
              <a:t>[7]  ONGARO, D.; OUSTERHOUT, J. In Search of an Understandable Consensus Algorithm (Extended Version). USENIX Association, 2014.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REFERÊNCIAS BIBLIOGRÁFICAS</a:t>
            </a:r>
          </a:p>
          <a:p>
            <a:pPr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Referências (2 /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UNIOESTE — Guilherme K. T. Miller | Defesa de TCC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55080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Página 21 de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10728655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08760"/>
            <a:ext cx="10180015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[1]  CASTRO, M.; LISKOV, B. Practical Byzantine Fault Tolerance. In: Proceedings of the Symposium on Operating System Design and Implementation, 1999.</a:t>
            </a:r>
          </a:p>
          <a:p>
            <a:pPr>
              <a:spcBef>
                <a:spcPts val="900"/>
              </a:spcBef>
              <a:defRPr sz="1050">
                <a:solidFill>
                  <a:srgbClr val="0F172A"/>
                </a:solidFill>
              </a:defRPr>
            </a:pPr>
            <a:r>
              <a:t>[2]  DAS, A.; GUPTA, I.; MOTIVALA, A. SWIM: Scalable Weakly-consistent Infection-style Process Group Membership Protocol. In: DSN '02, IEEE Computer Society, p. 303-312, 2002.</a:t>
            </a:r>
          </a:p>
          <a:p>
            <a:pPr>
              <a:spcBef>
                <a:spcPts val="900"/>
              </a:spcBef>
              <a:defRPr sz="1050">
                <a:solidFill>
                  <a:srgbClr val="0F172A"/>
                </a:solidFill>
              </a:defRPr>
            </a:pPr>
            <a:r>
              <a:t>[3]  DRAHOŠ, P. et al. Trends in industrial communication and OPC UA. In: 2018 Cybernetics &amp; Informatics (K&amp;I), p. 1-5, 2018.</a:t>
            </a:r>
          </a:p>
          <a:p>
            <a:pPr>
              <a:spcBef>
                <a:spcPts val="900"/>
              </a:spcBef>
              <a:defRPr sz="1050">
                <a:solidFill>
                  <a:srgbClr val="0F172A"/>
                </a:solidFill>
              </a:defRPr>
            </a:pPr>
            <a:r>
              <a:t>[4]  HAYASHIBARA, N. et al. The /spl phi/ Accrual Failure Detector. In: 23rd IEEE International Symposium on Reliable Distributed Systems, p. 66-78, 2004.</a:t>
            </a:r>
          </a:p>
          <a:p>
            <a:pPr>
              <a:spcBef>
                <a:spcPts val="900"/>
              </a:spcBef>
              <a:defRPr sz="1050">
                <a:solidFill>
                  <a:srgbClr val="0F172A"/>
                </a:solidFill>
              </a:defRPr>
            </a:pPr>
            <a:r>
              <a:t>[5]  INDRASIRI, K.; KURUPPU, D. gRPC: Up and Running: Building Cloud Native Applications with Go and Java for Docker and Kubernetes. O'Reilly Media, 2020.</a:t>
            </a:r>
          </a:p>
          <a:p>
            <a:pPr>
              <a:spcBef>
                <a:spcPts val="900"/>
              </a:spcBef>
              <a:defRPr sz="1050">
                <a:solidFill>
                  <a:srgbClr val="0F172A"/>
                </a:solidFill>
              </a:defRPr>
            </a:pPr>
            <a:r>
              <a:t>[6]  RAJESH, S. C.; KUMAR, D. R. High availability strategies in distributed systems: A practical guide. ResearchGate, 2025.</a:t>
            </a:r>
          </a:p>
          <a:p>
            <a:pPr>
              <a:spcBef>
                <a:spcPts val="900"/>
              </a:spcBef>
              <a:defRPr sz="1050">
                <a:solidFill>
                  <a:srgbClr val="0F172A"/>
                </a:solidFill>
              </a:defRPr>
            </a:pPr>
            <a:r>
              <a:t>[7]  TOEROE, M.; TAM, F. Service Availability: Principles and Practice. John Wiley &amp; Sons, 2012.</a:t>
            </a:r>
          </a:p>
          <a:p>
            <a:pPr>
              <a:spcBef>
                <a:spcPts val="900"/>
              </a:spcBef>
              <a:defRPr sz="1050">
                <a:solidFill>
                  <a:srgbClr val="0F172A"/>
                </a:solidFill>
              </a:defRPr>
            </a:pPr>
            <a:r>
              <a:t>[8]  YADAV, G.; PAUL, K. Architecture and security of SCADA systems: A review. International Journal of Critical Infrastructure Protection, v. 34, 2021.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0728655" cy="51206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Obrigado pela Atenção!</a:t>
            </a:r>
          </a:p>
          <a:p>
            <a:pPr algn="ctr">
              <a:spcBef>
                <a:spcPts val="1600"/>
              </a:spcBef>
              <a:defRPr sz="1800">
                <a:solidFill>
                  <a:srgbClr val="0EA5E9"/>
                </a:solidFill>
              </a:defRPr>
            </a:pPr>
            <a:r>
              <a:t>Desenvolvimento de uma Solução de Alta Disponibilidade: Uma Abordagem Prática</a:t>
            </a:r>
          </a:p>
          <a:p>
            <a:pPr algn="ctr">
              <a:spcBef>
                <a:spcPts val="2400"/>
              </a:spcBef>
              <a:defRPr sz="1500">
                <a:solidFill>
                  <a:srgbClr val="E2E8F0"/>
                </a:solidFill>
              </a:defRPr>
            </a:pPr>
            <a:r>
              <a:t>Acadêmico: Guilherme Kenzo Takano Miller</a:t>
            </a:r>
            <a:br/>
            <a:r>
              <a:t>Orientadora: Ma. Teresinha Arnauts Hachisuca  |  Coorientador: Me. Filipe Ventura Muggiati</a:t>
            </a:r>
          </a:p>
          <a:p>
            <a:pPr algn="ctr">
              <a:spcBef>
                <a:spcPts val="2000"/>
              </a:spcBef>
              <a:defRPr sz="1300">
                <a:solidFill>
                  <a:srgbClr val="94A3B8"/>
                </a:solidFill>
              </a:defRPr>
            </a:pPr>
            <a:r>
              <a:t>UNIOESTE — Universidade Estadual do Oeste do Paraná</a:t>
            </a:r>
            <a:br/>
            <a:r>
              <a:t>Curso de Ciência da Computação | Foz do Iguaçu — 2026</a:t>
            </a:r>
          </a:p>
          <a:p>
            <a:pPr algn="ctr">
              <a:spcBef>
                <a:spcPts val="2000"/>
              </a:spcBef>
              <a:defRPr sz="1400" b="1">
                <a:solidFill>
                  <a:srgbClr val="10B981"/>
                </a:solidFill>
              </a:defRPr>
            </a:pPr>
            <a:r>
              <a:t>Aberto para arguição e comentários da banca examinadora.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Página 22 de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